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give you and your co-founder a shared mental model of the whole NayaHR stack so you can confidently explain it to investors, customers, and hires. We'll go vendor by vendor, then trace a single request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NayaHR replaces the spreadsheets + point tools an SMB juggles. Key framing for a pitch: it's not one app, it's a multi-tenant SaaS platform — the same architecture serves one company or ten thousand.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map to memorize. Left to right: a user hits a domain (GoDaddy DNS) → Vercel serves the right site → the App talks to three services: Clerk (who are you?), Neon (the data), Anthropic (the AI). Code ships from GitHub to Vercel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one-line answer for 'what are you built on?'. Emphasize: these are best-in-class, mostly serverless building blocks — we assemble them, we don't run servers. That keeps the team tiny and the ops burden near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DNS is just a phone book. We own one number (nayahr.in) and list three extensions. The marketing site and app are two separate Vercel projects so they deploy and scale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release process in four beats. The takeaway for a pitch: shipping is a git push — fast iteration, no ops. Rollbacks are one click in Vercel.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useful slide for a technical audience — it proves the security model is not bolted on. Notice steps 3, 4, 5: identity, then tenant, then the database itself refuses to return another company's data. AI (step 7) rides the same 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Clerk is our 'front door.' The pitch line: authentication is a solved, security-critical problem — we use a specialist so we can't get it wrong, and so we never hold passwords. Invite-only + restricted mode means the app is closed to the public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any buyer with sensitive HR/payroll data, THIS is the trust slide. Most SaaS enforce tenant separation only in application code — one missed WHERE clause leaks data. We push it into the database, which is provably scoped per request and cannot be bypassed by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ideas to land: (1) effective-dating — like accounting, we never destroy history; we add dated entries. Great for audits and 'what did this look like in April?'. (2) The audit_log records every change. Both matter for HR 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Breadth is the story: an SMB gets its whole people stack in one place. Each module writes into the same effective-dated, tenant-isolated core — Recruitment hiring flows straight into Core HR and Payroll, for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Payroll is the hardest module and a strong proof point — Indian statutory rules are non-trivial. Show that it's not a spreadsheet: it's a repeatable, auditable run that locks, with the compliance math built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 vs. legacy HRIS. The key safety point for buyers: the AI has no special powers — it's constrained by the same role permissions and row-level security as the person using it. It can't leak or over-reach.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 keep the app scoped to what each person needs. Invite-only (both in our code and in Clerk) means the platform is closed by default — important for a B2B tool handling payroll. Owners can also 'view as' a lower role to see exactly what staff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consolidated 'can we trust you with our payroll?' answer. Lead with tenant isolation and no-passwords; those are the two that resonate most with buyers and any security reviewer.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Investor-facing slide. The point: no upfront infra, costs scale with revenue, and we don't need a DevOps/infra team. Margins improve as we grow because the fixed costs stay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four pillars. If you remember one line for the pitch: 'We assembled a modern serverless stack and pushed security down into the database, so an AI-native HRIS for India can be trusted with payroll from day one.'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83080" y="868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801368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HRIS · built for Indian businesses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77240" y="24688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Data Flow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82296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platform is built — the vendors, how they connect, and how data flows end to end.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5074920"/>
            <a:ext cx="2743200" cy="0"/>
          </a:xfrm>
          <a:prstGeom prst="line">
            <a:avLst/>
          </a:prstGeom>
          <a:noFill/>
          <a:ln w="31750">
            <a:solidFill>
              <a:srgbClr val="EC6A4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founders &amp; stakeholders  ·  a walk-through for pitching and onboarding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IN ONE SLIDE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NayaHR is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002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HRIS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single platform that runs the entire people operation for 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small &amp; mid-size businesses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(roughly 10–200 employees).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BE7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7889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4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HR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148840" y="2788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BE7E0"/>
          </a:solidFill>
          <a:ln/>
        </p:spPr>
      </p:sp>
      <p:sp>
        <p:nvSpPr>
          <p:cNvPr id="9" name="Text 6"/>
          <p:cNvSpPr/>
          <p:nvPr/>
        </p:nvSpPr>
        <p:spPr>
          <a:xfrm>
            <a:off x="2148840" y="27889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4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749040" y="2788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BE7E0"/>
          </a:solidFill>
          <a:ln/>
        </p:spPr>
      </p:sp>
      <p:sp>
        <p:nvSpPr>
          <p:cNvPr id="11" name="Text 8"/>
          <p:cNvSpPr/>
          <p:nvPr/>
        </p:nvSpPr>
        <p:spPr>
          <a:xfrm>
            <a:off x="3749040" y="27889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4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49240" y="27889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BE7E0"/>
          </a:solidFill>
          <a:ln/>
        </p:spPr>
      </p:sp>
      <p:sp>
        <p:nvSpPr>
          <p:cNvPr id="13" name="Text 10"/>
          <p:cNvSpPr/>
          <p:nvPr/>
        </p:nvSpPr>
        <p:spPr>
          <a:xfrm>
            <a:off x="5349240" y="27889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4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2461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BE7E0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2461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4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148840" y="32461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BE7E0"/>
          </a:solidFill>
          <a:ln/>
        </p:spPr>
      </p:sp>
      <p:sp>
        <p:nvSpPr>
          <p:cNvPr id="17" name="Text 14"/>
          <p:cNvSpPr/>
          <p:nvPr/>
        </p:nvSpPr>
        <p:spPr>
          <a:xfrm>
            <a:off x="2148840" y="32461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4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off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749040" y="32461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BE7E0"/>
          </a:solidFill>
          <a:ln/>
        </p:spPr>
      </p:sp>
      <p:sp>
        <p:nvSpPr>
          <p:cNvPr id="19" name="Text 16"/>
          <p:cNvSpPr/>
          <p:nvPr/>
        </p:nvSpPr>
        <p:spPr>
          <a:xfrm>
            <a:off x="3749040" y="32461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4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349240" y="32461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BE7E0"/>
          </a:solidFill>
          <a:ln/>
        </p:spPr>
      </p:sp>
      <p:sp>
        <p:nvSpPr>
          <p:cNvPr id="21" name="Text 18"/>
          <p:cNvSpPr/>
          <p:nvPr/>
        </p:nvSpPr>
        <p:spPr>
          <a:xfrm>
            <a:off x="5349240" y="32461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4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48640" y="3977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clean platform,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by design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every customer company is a fully isolated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sharing infrastructure but never data.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452360" y="1554480"/>
            <a:ext cx="4206240" cy="4206240"/>
          </a:xfrm>
          <a:prstGeom prst="roundRect">
            <a:avLst>
              <a:gd name="adj" fmla="val 2391"/>
            </a:avLst>
          </a:prstGeom>
          <a:solidFill>
            <a:srgbClr val="241A40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452360" y="1554480"/>
            <a:ext cx="4206240" cy="4206240"/>
          </a:xfrm>
          <a:prstGeom prst="roundRect">
            <a:avLst>
              <a:gd name="adj" fmla="val 2391"/>
            </a:avLst>
          </a:prstGeom>
          <a:solidFill>
            <a:srgbClr val="241A40"/>
          </a:solidFill>
          <a:ln/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680960" y="1783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9052560" y="17830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HR modules, one login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680960" y="27706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DB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9052560" y="27706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companies, isolated by row-level security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680960" y="375818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9052560" y="375818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— scales with usage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680960" y="474573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9052560" y="4745736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that gets work done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· Technical Architecture &amp; Data Flow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ALL CONNECTS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880360"/>
            <a:ext cx="1737360" cy="1051560"/>
          </a:xfrm>
          <a:prstGeom prst="roundRect">
            <a:avLst>
              <a:gd name="adj" fmla="val 8696"/>
            </a:avLst>
          </a:prstGeom>
          <a:solidFill>
            <a:srgbClr val="CFE0F5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2880360"/>
            <a:ext cx="164592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· Employees · Public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697480" y="288036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743200" y="2880360"/>
            <a:ext cx="146304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GoDaddy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&amp; DNS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286000" y="3401568"/>
            <a:ext cx="411480" cy="0"/>
          </a:xfrm>
          <a:prstGeom prst="line">
            <a:avLst/>
          </a:prstGeom>
          <a:noFill/>
          <a:ln w="25400">
            <a:solidFill>
              <a:srgbClr val="241A40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457200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 (hosting + serverless)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0" y="192024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17720" y="1920240"/>
            <a:ext cx="27432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site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nayahr.in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0" y="2971800"/>
            <a:ext cx="2834640" cy="914400"/>
          </a:xfrm>
          <a:prstGeom prst="roundRect">
            <a:avLst>
              <a:gd name="adj" fmla="val 10000"/>
            </a:avLst>
          </a:prstGeom>
          <a:solidFill>
            <a:srgbClr val="FBE7E0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617720" y="2971800"/>
            <a:ext cx="27432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app.nayahr.in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251960" y="3401568"/>
            <a:ext cx="320040" cy="-914400"/>
          </a:xfrm>
          <a:prstGeom prst="line">
            <a:avLst/>
          </a:prstGeom>
          <a:noFill/>
          <a:ln w="25400">
            <a:solidFill>
              <a:srgbClr val="241A4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251960" y="3401568"/>
            <a:ext cx="320040" cy="27432"/>
          </a:xfrm>
          <a:prstGeom prst="line">
            <a:avLst/>
          </a:prstGeom>
          <a:noFill/>
          <a:ln w="25400">
            <a:solidFill>
              <a:srgbClr val="241A4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138160" y="178308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183880" y="1783080"/>
            <a:ext cx="21945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Clerk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138160" y="278892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183880" y="2788920"/>
            <a:ext cx="21945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database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138160" y="379476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183880" y="3794760"/>
            <a:ext cx="21945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406640" y="3429000"/>
            <a:ext cx="731520" cy="-1188720"/>
          </a:xfrm>
          <a:prstGeom prst="line">
            <a:avLst/>
          </a:prstGeom>
          <a:noFill/>
          <a:ln w="25400">
            <a:solidFill>
              <a:srgbClr val="EC6A49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406640" y="3429000"/>
            <a:ext cx="731520" cy="-182880"/>
          </a:xfrm>
          <a:prstGeom prst="line">
            <a:avLst/>
          </a:prstGeom>
          <a:noFill/>
          <a:ln w="25400">
            <a:solidFill>
              <a:srgbClr val="EC6A49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406640" y="3429000"/>
            <a:ext cx="731520" cy="822960"/>
          </a:xfrm>
          <a:prstGeom prst="line">
            <a:avLst/>
          </a:prstGeom>
          <a:noFill/>
          <a:ln w="25400">
            <a:solidFill>
              <a:srgbClr val="EC6A49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572000" y="489204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EEF1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617720" y="4892040"/>
            <a:ext cx="274320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989320" y="4892040"/>
            <a:ext cx="0" cy="-1005840"/>
          </a:xfrm>
          <a:prstGeom prst="line">
            <a:avLst/>
          </a:prstGeom>
          <a:noFill/>
          <a:ln w="25400">
            <a:solidFill>
              <a:srgbClr val="241A40"/>
            </a:solidFill>
            <a:prstDash val="solid"/>
            <a:tailEnd type="triangle"/>
          </a:ln>
        </p:spPr>
      </p:sp>
      <p:sp>
        <p:nvSpPr>
          <p:cNvPr id="29" name="Text 26"/>
          <p:cNvSpPr/>
          <p:nvPr/>
        </p:nvSpPr>
        <p:spPr>
          <a:xfrm>
            <a:off x="608076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→ deploy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2286000" y="31272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arrow is an HTTPS/API call. The App is the hub: it authenticates via Clerk, reads/writes tenant-isolated data in Neon, and calls Claude for AI actions. GoDaddy points the domains at Vercel; GitHub pushes deploy the code.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· Technical Architecture &amp; Data Flow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PLAYERS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 stack at a glance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  <a:gridCol w="5577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it's in the stack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A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41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GoDaddy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registrar &amp; DNS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Owns nayahr.in and points visitors to the right place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41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Vercel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Hosting, serverless compute &amp; CI/CD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 the Next.js app; auto-builds &amp; deploys on every push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41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Serverless Postgres database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Stores all data; enforces tenant isolation in the DB itself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41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Clerk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Authentication &amp; user identity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Sign-in, Google login, invitations — we never store passwords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41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Anthropic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AI models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Powers the assistant that reads and performs HR actions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41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control &amp; deploy trigger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code lives here; a push is what ships to production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41A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Next.js + Drizzle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framework &amp; typed database access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application layer — UI, server logic, safe SQL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· Technical Architecture &amp; Data Flow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GODADDY → VERCEL &amp; CLERK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Domains &amp; DNS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domain, three destinations. GoDaddy holds the DNS records that route each hostname to the right service: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240280"/>
            <a:ext cx="11064240" cy="960120"/>
          </a:xfrm>
          <a:prstGeom prst="roundRect">
            <a:avLst>
              <a:gd name="adj" fmla="val 10476"/>
            </a:avLst>
          </a:prstGeom>
          <a:solidFill>
            <a:srgbClr val="CFE0F5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2402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nayahr.in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023360" y="22402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website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0" y="2715768"/>
            <a:ext cx="457200" cy="0"/>
          </a:xfrm>
          <a:prstGeom prst="line">
            <a:avLst/>
          </a:prstGeom>
          <a:noFill/>
          <a:ln w="25400">
            <a:solidFill>
              <a:srgbClr val="241A40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7955280" y="22402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(marketing project)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383280"/>
            <a:ext cx="11064240" cy="960120"/>
          </a:xfrm>
          <a:prstGeom prst="roundRect">
            <a:avLst>
              <a:gd name="adj" fmla="val 10476"/>
            </a:avLst>
          </a:prstGeom>
          <a:solidFill>
            <a:srgbClr val="FBE7E0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" y="33832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app.nayahr.in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023360" y="33832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HRIS application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0" y="3858768"/>
            <a:ext cx="457200" cy="0"/>
          </a:xfrm>
          <a:prstGeom prst="line">
            <a:avLst/>
          </a:prstGeom>
          <a:noFill/>
          <a:ln w="25400">
            <a:solidFill>
              <a:srgbClr val="241A40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7955280" y="33832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(platform project)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526280"/>
            <a:ext cx="11064240" cy="960120"/>
          </a:xfrm>
          <a:prstGeom prst="roundRect">
            <a:avLst>
              <a:gd name="adj" fmla="val 10476"/>
            </a:avLst>
          </a:prstGeom>
          <a:solidFill>
            <a:srgbClr val="EEF1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22960" y="45262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clerk.nayahr.in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023360" y="45262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service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15200" y="5001768"/>
            <a:ext cx="457200" cy="0"/>
          </a:xfrm>
          <a:prstGeom prst="line">
            <a:avLst/>
          </a:prstGeom>
          <a:noFill/>
          <a:ln w="25400">
            <a:solidFill>
              <a:srgbClr val="241A40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7955280" y="452628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Clerk (custom domain)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used: an A / CNAME record sends the apex + app subdomains to Vercel; a set of CNAMEs delegates clerk.nayahr.in (and email) to Clerk. SSL certificates are issued automatically.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· Technical Architecture &amp; Data Flow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CODE TO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deployment pipeline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920240"/>
            <a:ext cx="2606040" cy="3108960"/>
          </a:xfrm>
          <a:prstGeom prst="roundRect">
            <a:avLst>
              <a:gd name="adj" fmla="val 3860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17320" y="21762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code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are made in the single GitHub repository (one repo, two apps: platform/ and marketing/).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3474720"/>
            <a:ext cx="182880" cy="0"/>
          </a:xfrm>
          <a:prstGeom prst="line">
            <a:avLst/>
          </a:prstGeom>
          <a:noFill/>
          <a:ln w="25400">
            <a:solidFill>
              <a:srgbClr val="EC6A49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383280" y="1920240"/>
            <a:ext cx="2606040" cy="3108960"/>
          </a:xfrm>
          <a:prstGeom prst="roundRect">
            <a:avLst>
              <a:gd name="adj" fmla="val 3860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2148840"/>
            <a:ext cx="502920" cy="50292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13" name="Text 10"/>
          <p:cNvSpPr/>
          <p:nvPr/>
        </p:nvSpPr>
        <p:spPr>
          <a:xfrm>
            <a:off x="36118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251960" y="21762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11880" y="28346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Pushing to the main branch is the trigger — no manual deploy step.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3474720"/>
            <a:ext cx="182880" cy="0"/>
          </a:xfrm>
          <a:prstGeom prst="line">
            <a:avLst/>
          </a:prstGeom>
          <a:noFill/>
          <a:ln w="25400">
            <a:solidFill>
              <a:srgbClr val="EC6A49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217920" y="1920240"/>
            <a:ext cx="2606040" cy="3108960"/>
          </a:xfrm>
          <a:prstGeom prst="roundRect">
            <a:avLst>
              <a:gd name="adj" fmla="val 3860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46520" y="2148840"/>
            <a:ext cx="502920" cy="50292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19" name="Text 16"/>
          <p:cNvSpPr/>
          <p:nvPr/>
        </p:nvSpPr>
        <p:spPr>
          <a:xfrm>
            <a:off x="6446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086600" y="21762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builds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46520" y="28346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Vercel projects watch the repo. An 'ignored build step' means each rebuilds only when its own folder changed.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869680" y="3474720"/>
            <a:ext cx="182880" cy="0"/>
          </a:xfrm>
          <a:prstGeom prst="line">
            <a:avLst/>
          </a:prstGeom>
          <a:noFill/>
          <a:ln w="25400">
            <a:solidFill>
              <a:srgbClr val="EC6A49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052560" y="1920240"/>
            <a:ext cx="2606040" cy="3108960"/>
          </a:xfrm>
          <a:prstGeom prst="roundRect">
            <a:avLst>
              <a:gd name="adj" fmla="val 3860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281160" y="2148840"/>
            <a:ext cx="502920" cy="50292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25" name="Text 22"/>
          <p:cNvSpPr/>
          <p:nvPr/>
        </p:nvSpPr>
        <p:spPr>
          <a:xfrm>
            <a:off x="92811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921240" y="21762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~1–2 min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281160" y="28346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builds, runs checks, and swaps in the new version behind the same domain — zero downtime.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two projects on one repo?  </a:t>
            </a:r>
            <a:pPr algn="ctr" indent="0" marL="0"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marketing site and the app have different lifecycles, but sharing a repo keeps everything versioned together.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· Technical Architecture &amp; Data Flow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request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581912"/>
            <a:ext cx="457200" cy="45720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153619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opens app.nayahr.in  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GoDaddy DNS resolves the hostname to Vercel, which serves the Next.js app.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4360" y="2267712"/>
            <a:ext cx="457200" cy="45720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222199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Clerk checks identity  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asks Clerk 'is this person signed in?' If not, they're sent to sign-in (Google or email).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94360" y="2953512"/>
            <a:ext cx="457200" cy="45720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34440" y="290779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Invite-only gate  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signed-in but un-invited account is stopped — no access without an invitation.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4360" y="3639312"/>
            <a:ext cx="457200" cy="45720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34440" y="359359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is resolved  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getSession() maps the Clerk user → their app_user record → their company (tenant) and role.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94360" y="4325112"/>
            <a:ext cx="457200" cy="45720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34440" y="427939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runs under RLS  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DB call sets an 'app.tenant' marker; Postgres row-level security auto-filters to that company's rows only.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94360" y="5010912"/>
            <a:ext cx="457200" cy="45720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34440" y="496519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renders on the server  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payroll, etc. are fetched and rendered server-side, then sent to the browser.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94360" y="5696712"/>
            <a:ext cx="457200" cy="45720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" y="5696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234440" y="565099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actions, same rules   </a:t>
            </a:r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calls Claude with role-scoped tools that go through the very same RLS-guarded data layer.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· Technical Architecture &amp; Data Flow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YOU?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identity — Clerk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5394960" cy="1325880"/>
          </a:xfrm>
          <a:prstGeom prst="roundRect">
            <a:avLst>
              <a:gd name="adj" fmla="val 758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1856232"/>
            <a:ext cx="292608" cy="292608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7" name="Text 4"/>
          <p:cNvSpPr/>
          <p:nvPr/>
        </p:nvSpPr>
        <p:spPr>
          <a:xfrm>
            <a:off x="1234440" y="17647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methods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16712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password and one-click Google sign-in, handled entirely by Clerk.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394960" cy="1325880"/>
          </a:xfrm>
          <a:prstGeom prst="roundRect">
            <a:avLst>
              <a:gd name="adj" fmla="val 758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856232"/>
            <a:ext cx="292608" cy="292608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0" y="17647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passwords, ever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446520" y="216712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see or store credentials — Clerk holds them, reducing our security surface dramatically.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3108960"/>
            <a:ext cx="5394960" cy="1325880"/>
          </a:xfrm>
          <a:prstGeom prst="roundRect">
            <a:avLst>
              <a:gd name="adj" fmla="val 758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4672" y="3364992"/>
            <a:ext cx="292608" cy="292608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15" name="Text 12"/>
          <p:cNvSpPr/>
          <p:nvPr/>
        </p:nvSpPr>
        <p:spPr>
          <a:xfrm>
            <a:off x="1234440" y="32735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22960" y="367588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HR invites an employee, the app calls Clerk to send a real sign-up invitation email.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172200" y="3108960"/>
            <a:ext cx="5394960" cy="1325880"/>
          </a:xfrm>
          <a:prstGeom prst="roundRect">
            <a:avLst>
              <a:gd name="adj" fmla="val 758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28232" y="3364992"/>
            <a:ext cx="292608" cy="292608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0" y="32735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sign-up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446520" y="367588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Clerk is set to invite-only mode: nobody can create a login unless they were invited.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617720"/>
            <a:ext cx="5394960" cy="1325880"/>
          </a:xfrm>
          <a:prstGeom prst="roundRect">
            <a:avLst>
              <a:gd name="adj" fmla="val 758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4672" y="4873752"/>
            <a:ext cx="292608" cy="292608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23" name="Text 20"/>
          <p:cNvSpPr/>
          <p:nvPr/>
        </p:nvSpPr>
        <p:spPr>
          <a:xfrm>
            <a:off x="1234440" y="47823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mapping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22960" y="518464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Clerk user is linked to an 'app_user' row, which ties them to their company and role.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72200" y="4617720"/>
            <a:ext cx="5394960" cy="1325880"/>
          </a:xfrm>
          <a:prstGeom prst="roundRect">
            <a:avLst>
              <a:gd name="adj" fmla="val 758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28232" y="4873752"/>
            <a:ext cx="292608" cy="292608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0" y="47823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domain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446520" y="5184648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Clerk runs on clerk.nayahr.in, so the whole experience stays on the NayaHR brand.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· Technical Architecture &amp; Data Flow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CROWN JEWEL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Multi-tenancy &amp; security: Row-Level Security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5720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6949440" cy="914400"/>
          </a:xfrm>
          <a:prstGeom prst="roundRect">
            <a:avLst>
              <a:gd name="adj" fmla="val 10000"/>
            </a:avLst>
          </a:prstGeom>
          <a:solidFill>
            <a:srgbClr val="191230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856232"/>
            <a:ext cx="502920" cy="50292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17556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database, many companies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2103120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customers share one Postgres database. Every row is stamped with a tenant_id.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6949440" cy="914400"/>
          </a:xfrm>
          <a:prstGeom prst="roundRect">
            <a:avLst>
              <a:gd name="adj" fmla="val 10000"/>
            </a:avLst>
          </a:prstGeom>
          <a:solidFill>
            <a:srgbClr val="191230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2907792"/>
            <a:ext cx="502920" cy="50292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63040" y="280720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database enforces isolation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63040" y="3154680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Row-Level Security policies auto-filter every query to the current company — set once per request via a secure session marker.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749040"/>
            <a:ext cx="6949440" cy="914400"/>
          </a:xfrm>
          <a:prstGeom prst="roundRect">
            <a:avLst>
              <a:gd name="adj" fmla="val 10000"/>
            </a:avLst>
          </a:prstGeom>
          <a:solidFill>
            <a:srgbClr val="191230"/>
          </a:solidFill>
          <a:ln/>
        </p:spPr>
      </p:sp>
      <p:sp>
        <p:nvSpPr>
          <p:cNvPr id="16" name="Shape 13"/>
          <p:cNvSpPr/>
          <p:nvPr/>
        </p:nvSpPr>
        <p:spPr>
          <a:xfrm>
            <a:off x="777240" y="3959352"/>
            <a:ext cx="502920" cy="50292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463040" y="385876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can't be bypassed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63040" y="4206240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is FORCED, and the app connects with a dedicated role that is NOT allowed to skip it (we specifically fixed a default that could).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772400" y="1645920"/>
            <a:ext cx="3886200" cy="3200400"/>
          </a:xfrm>
          <a:prstGeom prst="roundRect">
            <a:avLst>
              <a:gd name="adj" fmla="val 3429"/>
            </a:avLst>
          </a:prstGeom>
          <a:solidFill>
            <a:srgbClr val="EC6A49"/>
          </a:solidFill>
          <a:ln/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046720" y="1874520"/>
            <a:ext cx="3383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bug in our app code can't leak another company's data — the database itself refuses to return it.”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046720" y="4114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1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enforced at the lowest layer — not just in app code.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depth: identity (Clerk) → tenant scoping (session) → row-level security (Postgres) → full audit log of every change.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DATA IS SHAPED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model — effective-dated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aren't overwritten — they're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and effective-dated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Every job or pay change is a new dated event, so we can reconstruct the org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of any date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keep a complete history.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2377440"/>
            <a:ext cx="5394960" cy="60350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237744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6A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46120" y="237744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customer company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2377440"/>
            <a:ext cx="5394960" cy="60350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55080" y="237744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6A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app_user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869680" y="237744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login + role (owner / HR / manager / employee)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3090672"/>
            <a:ext cx="5394960" cy="60350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1520" y="309067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6A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46120" y="309067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employee record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72200" y="3090672"/>
            <a:ext cx="5394960" cy="60350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55080" y="309067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6A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job_event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869680" y="309067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Dated job history (title, dept, manager, status)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3803904"/>
            <a:ext cx="5394960" cy="60350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31520" y="380390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6A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compensation_event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46120" y="380390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Dated salary history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72200" y="3803904"/>
            <a:ext cx="5394960" cy="60350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355080" y="380390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6A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payroll_run · payslip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869680" y="3803904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runs + immutable payslips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4517136"/>
            <a:ext cx="5394960" cy="60350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31520" y="451713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6A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requisition · candidate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246120" y="4517136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 pipeline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172200" y="4517136"/>
            <a:ext cx="5394960" cy="60350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355080" y="451713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6A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· goal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869680" y="4517136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cycle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48640" y="5230368"/>
            <a:ext cx="5394960" cy="60350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31520" y="523036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6A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leave_request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246120" y="5230368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off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172200" y="5230368"/>
            <a:ext cx="5394960" cy="603504"/>
          </a:xfrm>
          <a:prstGeom prst="roundRect">
            <a:avLst>
              <a:gd name="adj" fmla="val 16667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355080" y="5230368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6A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869680" y="5230368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change, who and when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· Technical Architecture &amp; Data Flow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FOR CUSTOMERS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modules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2606040" cy="1965960"/>
          </a:xfrm>
          <a:prstGeom prst="roundRect">
            <a:avLst>
              <a:gd name="adj" fmla="val 511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1856232"/>
            <a:ext cx="457200" cy="457200"/>
          </a:xfrm>
          <a:prstGeom prst="ellipse">
            <a:avLst/>
          </a:prstGeom>
          <a:solidFill>
            <a:srgbClr val="241A40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HR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records, org, effective-dated changes with approvals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37560" y="1600200"/>
            <a:ext cx="2606040" cy="1965960"/>
          </a:xfrm>
          <a:prstGeom prst="roundRect">
            <a:avLst>
              <a:gd name="adj" fmla="val 511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93592" y="1856232"/>
            <a:ext cx="457200" cy="457200"/>
          </a:xfrm>
          <a:prstGeom prst="ellipse">
            <a:avLst/>
          </a:prstGeom>
          <a:solidFill>
            <a:srgbClr val="241A40"/>
          </a:solidFill>
          <a:ln/>
        </p:spPr>
      </p:sp>
      <p:sp>
        <p:nvSpPr>
          <p:cNvPr id="11" name="Text 8"/>
          <p:cNvSpPr/>
          <p:nvPr/>
        </p:nvSpPr>
        <p:spPr>
          <a:xfrm>
            <a:off x="356616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566160" y="2743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Requisitions → candidate pipeline → offer → hire into Core HR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26480" y="1600200"/>
            <a:ext cx="2606040" cy="1965960"/>
          </a:xfrm>
          <a:prstGeom prst="roundRect">
            <a:avLst>
              <a:gd name="adj" fmla="val 511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82512" y="1856232"/>
            <a:ext cx="457200" cy="457200"/>
          </a:xfrm>
          <a:prstGeom prst="ellipse">
            <a:avLst/>
          </a:prstGeom>
          <a:solidFill>
            <a:srgbClr val="241A40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55080" y="2743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&amp; review cycle: self → manager → HR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915400" y="1600200"/>
            <a:ext cx="2606040" cy="1965960"/>
          </a:xfrm>
          <a:prstGeom prst="roundRect">
            <a:avLst>
              <a:gd name="adj" fmla="val 511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171432" y="1856232"/>
            <a:ext cx="457200" cy="457200"/>
          </a:xfrm>
          <a:prstGeom prst="ellipse">
            <a:avLst/>
          </a:prstGeom>
          <a:solidFill>
            <a:srgbClr val="241A40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44000" y="2743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structure, dated change history &amp; approvals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3749040"/>
            <a:ext cx="2606040" cy="1965960"/>
          </a:xfrm>
          <a:prstGeom prst="roundRect">
            <a:avLst>
              <a:gd name="adj" fmla="val 511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41A40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77240" y="4892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statutory payroll: PF, ESI, PT, TDS → payslips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337560" y="3749040"/>
            <a:ext cx="2606040" cy="1965960"/>
          </a:xfrm>
          <a:prstGeom prst="roundRect">
            <a:avLst>
              <a:gd name="adj" fmla="val 511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593592" y="4005072"/>
            <a:ext cx="457200" cy="457200"/>
          </a:xfrm>
          <a:prstGeom prst="ellipse">
            <a:avLst/>
          </a:prstGeom>
          <a:solidFill>
            <a:srgbClr val="241A40"/>
          </a:solidFill>
          <a:ln/>
        </p:spPr>
      </p:sp>
      <p:sp>
        <p:nvSpPr>
          <p:cNvPr id="27" name="Text 24"/>
          <p:cNvSpPr/>
          <p:nvPr/>
        </p:nvSpPr>
        <p:spPr>
          <a:xfrm>
            <a:off x="356616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off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566160" y="4892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leave types, balances, approvals, loss-of-pay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126480" y="3749040"/>
            <a:ext cx="2606040" cy="1965960"/>
          </a:xfrm>
          <a:prstGeom prst="roundRect">
            <a:avLst>
              <a:gd name="adj" fmla="val 511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382512" y="4005072"/>
            <a:ext cx="457200" cy="457200"/>
          </a:xfrm>
          <a:prstGeom prst="ellipse">
            <a:avLst/>
          </a:prstGeom>
          <a:solidFill>
            <a:srgbClr val="241A40"/>
          </a:solidFill>
          <a:ln/>
        </p:spPr>
      </p:sp>
      <p:sp>
        <p:nvSpPr>
          <p:cNvPr id="31" name="Text 28"/>
          <p:cNvSpPr/>
          <p:nvPr/>
        </p:nvSpPr>
        <p:spPr>
          <a:xfrm>
            <a:off x="635508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355080" y="4892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Headcount, cost and people analytics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915400" y="3749040"/>
            <a:ext cx="2606040" cy="1965960"/>
          </a:xfrm>
          <a:prstGeom prst="roundRect">
            <a:avLst>
              <a:gd name="adj" fmla="val 511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171432" y="4005072"/>
            <a:ext cx="457200" cy="45720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35" name="Text 32"/>
          <p:cNvSpPr/>
          <p:nvPr/>
        </p:nvSpPr>
        <p:spPr>
          <a:xfrm>
            <a:off x="914400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144000" y="4892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actions across every module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· Technical Architecture &amp; Data Flow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payroll engine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241A40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600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month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633472" y="1984248"/>
            <a:ext cx="182880" cy="0"/>
          </a:xfrm>
          <a:prstGeom prst="line">
            <a:avLst/>
          </a:prstGeom>
          <a:noFill/>
          <a:ln w="25400">
            <a:solidFill>
              <a:srgbClr val="EC6A49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834640" y="160020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241A40"/>
          </a:solidFill>
          <a:ln/>
        </p:spPr>
      </p:sp>
      <p:sp>
        <p:nvSpPr>
          <p:cNvPr id="9" name="Text 6"/>
          <p:cNvSpPr/>
          <p:nvPr/>
        </p:nvSpPr>
        <p:spPr>
          <a:xfrm>
            <a:off x="2926080" y="1600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computes every payslip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19472" y="1984248"/>
            <a:ext cx="182880" cy="0"/>
          </a:xfrm>
          <a:prstGeom prst="line">
            <a:avLst/>
          </a:prstGeom>
          <a:noFill/>
          <a:ln w="25400">
            <a:solidFill>
              <a:srgbClr val="EC6A49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120640" y="160020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241A40"/>
          </a:solidFill>
          <a:ln/>
        </p:spPr>
      </p:sp>
      <p:sp>
        <p:nvSpPr>
          <p:cNvPr id="12" name="Text 9"/>
          <p:cNvSpPr/>
          <p:nvPr/>
        </p:nvSpPr>
        <p:spPr>
          <a:xfrm>
            <a:off x="5212080" y="1600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reviews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205472" y="1984248"/>
            <a:ext cx="182880" cy="0"/>
          </a:xfrm>
          <a:prstGeom prst="line">
            <a:avLst/>
          </a:prstGeom>
          <a:noFill/>
          <a:ln w="25400">
            <a:solidFill>
              <a:srgbClr val="EC6A49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406640" y="160020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EC6A49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0" y="1600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 (locks it)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491472" y="1984248"/>
            <a:ext cx="182880" cy="0"/>
          </a:xfrm>
          <a:prstGeom prst="line">
            <a:avLst/>
          </a:prstGeom>
          <a:noFill/>
          <a:ln w="25400">
            <a:solidFill>
              <a:srgbClr val="EC6A49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692640" y="1600200"/>
            <a:ext cx="2057400" cy="777240"/>
          </a:xfrm>
          <a:prstGeom prst="roundRect">
            <a:avLst>
              <a:gd name="adj" fmla="val 11765"/>
            </a:avLst>
          </a:prstGeom>
          <a:solidFill>
            <a:srgbClr val="241A40"/>
          </a:solidFill>
          <a:ln/>
        </p:spPr>
      </p:sp>
      <p:sp>
        <p:nvSpPr>
          <p:cNvPr id="18" name="Text 15"/>
          <p:cNvSpPr/>
          <p:nvPr/>
        </p:nvSpPr>
        <p:spPr>
          <a:xfrm>
            <a:off x="9784080" y="16002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see payslips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2743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calculations (India, built in):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200400"/>
            <a:ext cx="3520440" cy="822960"/>
          </a:xfrm>
          <a:prstGeom prst="roundRect">
            <a:avLst>
              <a:gd name="adj" fmla="val 12222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31520" y="3310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Provident Fund (PF)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31520" y="36210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 of basic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251960" y="3200400"/>
            <a:ext cx="3520440" cy="822960"/>
          </a:xfrm>
          <a:prstGeom prst="roundRect">
            <a:avLst>
              <a:gd name="adj" fmla="val 12222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434840" y="3310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ESI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434840" y="36210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0.75% / 3.25% up to ₹21,000 gross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955280" y="3200400"/>
            <a:ext cx="3520440" cy="822960"/>
          </a:xfrm>
          <a:prstGeom prst="roundRect">
            <a:avLst>
              <a:gd name="adj" fmla="val 12222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138160" y="3310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Tax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138160" y="36210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slab (₹200/mo)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8640" y="4160520"/>
            <a:ext cx="3520440" cy="822960"/>
          </a:xfrm>
          <a:prstGeom prst="roundRect">
            <a:avLst>
              <a:gd name="adj" fmla="val 12222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31520" y="4270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TDS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31520" y="45811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estimated, new tax regime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251960" y="4160520"/>
            <a:ext cx="3520440" cy="822960"/>
          </a:xfrm>
          <a:prstGeom prst="roundRect">
            <a:avLst>
              <a:gd name="adj" fmla="val 12222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4434840" y="4270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Pay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4434840" y="45811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prorated from unpaid leave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955280" y="4160520"/>
            <a:ext cx="3520440" cy="822960"/>
          </a:xfrm>
          <a:prstGeom prst="roundRect">
            <a:avLst>
              <a:gd name="adj" fmla="val 12222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8138160" y="42702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cost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8138160" y="45811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 + ESI added on top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Finalized payslips are an immutable snapshot — they never change even if salary later moves. Pulls live from Compensation and Time off.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· Technical Architecture &amp; Data Flow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AI-NATIVE, NOT AI-BOLTED-ON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assistant — Anthropic Claude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assistant uses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a set of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it doesn't just chat, it performs real actions by calling the same secure data layer the UI uses.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CFE0F5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2468880"/>
            <a:ext cx="219456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Employee/HR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in plain English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834640" y="2926080"/>
            <a:ext cx="457200" cy="0"/>
          </a:xfrm>
          <a:prstGeom prst="line">
            <a:avLst/>
          </a:prstGeom>
          <a:noFill/>
          <a:ln w="25400">
            <a:solidFill>
              <a:srgbClr val="EC6A49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91840" y="24688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BE7E0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37560" y="2468880"/>
            <a:ext cx="22860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the right tool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0" y="2926080"/>
            <a:ext cx="457200" cy="0"/>
          </a:xfrm>
          <a:prstGeom prst="line">
            <a:avLst/>
          </a:prstGeom>
          <a:noFill/>
          <a:ln w="25400">
            <a:solidFill>
              <a:srgbClr val="EC6A49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126480" y="246888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72200" y="2468880"/>
            <a:ext cx="25603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Role-scoped repo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RLS + permissions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778240" y="2926080"/>
            <a:ext cx="457200" cy="0"/>
          </a:xfrm>
          <a:prstGeom prst="line">
            <a:avLst/>
          </a:prstGeom>
          <a:noFill/>
          <a:ln w="25400">
            <a:solidFill>
              <a:srgbClr val="EC6A49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235440" y="24688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281160" y="2468880"/>
            <a:ext cx="22860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DB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done + audited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2960" y="4206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i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“Create a requisition for a Senior Engineer in Bengaluru.”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22960" y="4663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i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“Run July payroll.”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22960" y="5120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i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“Raise a compensation change for Priya, effective next month.”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22960" y="5577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i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many people are on leave this week?”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503920" y="3977640"/>
            <a:ext cx="3108960" cy="2057400"/>
          </a:xfrm>
          <a:prstGeom prst="roundRect">
            <a:avLst>
              <a:gd name="adj" fmla="val 4889"/>
            </a:avLst>
          </a:prstGeom>
          <a:solidFill>
            <a:srgbClr val="241A40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503920" y="3977640"/>
            <a:ext cx="3108960" cy="2057400"/>
          </a:xfrm>
          <a:prstGeom prst="roundRect">
            <a:avLst>
              <a:gd name="adj" fmla="val 4889"/>
            </a:avLst>
          </a:prstGeom>
          <a:solidFill>
            <a:srgbClr val="241A40"/>
          </a:solidFill>
          <a:ln/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73252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by construction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732520" y="457200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can only do what the signed-in user's role allows — it goes through the same permission checks and tenant isolation as every click in the UI.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· Technical Architecture &amp; Data Flow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SEE AND DO 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&amp; the invite-only model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2606040" cy="2286000"/>
          </a:xfrm>
          <a:prstGeom prst="roundRect">
            <a:avLst>
              <a:gd name="adj" fmla="val 4400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87452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EC6A49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74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account owner. Everything, plus managing admins &amp; billing. One per company.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645920"/>
            <a:ext cx="2606040" cy="2286000"/>
          </a:xfrm>
          <a:prstGeom prst="roundRect">
            <a:avLst>
              <a:gd name="adj" fmla="val 4400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87452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241A40"/>
          </a:solidFill>
          <a:ln/>
        </p:spPr>
      </p:sp>
      <p:sp>
        <p:nvSpPr>
          <p:cNvPr id="11" name="Text 8"/>
          <p:cNvSpPr/>
          <p:nvPr/>
        </p:nvSpPr>
        <p:spPr>
          <a:xfrm>
            <a:off x="3566160" y="1874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Admin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566160" y="24231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day-to-day HR across the whole company — people, hiring, pay, approvals.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1645920"/>
            <a:ext cx="2606040" cy="2286000"/>
          </a:xfrm>
          <a:prstGeom prst="roundRect">
            <a:avLst>
              <a:gd name="adj" fmla="val 4400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55080" y="187452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241A40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1874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55080" y="24231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and acts on their own team; raises changes that HR approves.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915400" y="1645920"/>
            <a:ext cx="2606040" cy="2286000"/>
          </a:xfrm>
          <a:prstGeom prst="roundRect">
            <a:avLst>
              <a:gd name="adj" fmla="val 4400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9144000" y="1874520"/>
            <a:ext cx="1463040" cy="411480"/>
          </a:xfrm>
          <a:prstGeom prst="roundRect">
            <a:avLst>
              <a:gd name="adj" fmla="val 48889"/>
            </a:avLst>
          </a:prstGeom>
          <a:solidFill>
            <a:srgbClr val="241A40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0" y="1874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0" y="24231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Self-service: their own profile, payslips, leave and goals.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297680"/>
            <a:ext cx="11064240" cy="1554480"/>
          </a:xfrm>
          <a:prstGeom prst="roundRect">
            <a:avLst>
              <a:gd name="adj" fmla="val 6471"/>
            </a:avLst>
          </a:prstGeom>
          <a:solidFill>
            <a:srgbClr val="EEF1FA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Invite-only, two layers deep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 App gate: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signed-in account with no invitation gets a 'you need an invite' wall — no company is ever auto-created.  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 Clerk restricted mode: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non-invited people can't even create a login.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· Technical Architecture &amp; Data Flow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POSTURE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audit &amp; compliance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5394960" cy="1325880"/>
          </a:xfrm>
          <a:prstGeom prst="roundRect">
            <a:avLst>
              <a:gd name="adj" fmla="val 758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2103120"/>
            <a:ext cx="310896" cy="310896"/>
          </a:xfrm>
          <a:prstGeom prst="ellipse">
            <a:avLst/>
          </a:prstGeom>
          <a:solidFill>
            <a:srgbClr val="1D8F4E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17465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isolation in the DB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21488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Row-level security means one company can never query another's data — enforced by Postgres, not just app code.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394960" cy="1325880"/>
          </a:xfrm>
          <a:prstGeom prst="roundRect">
            <a:avLst>
              <a:gd name="adj" fmla="val 758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2103120"/>
            <a:ext cx="310896" cy="310896"/>
          </a:xfrm>
          <a:prstGeom prst="ellipse">
            <a:avLst/>
          </a:prstGeom>
          <a:solidFill>
            <a:srgbClr val="1D8F4E"/>
          </a:solidFill>
          <a:ln/>
        </p:spPr>
      </p:sp>
      <p:sp>
        <p:nvSpPr>
          <p:cNvPr id="12" name="Text 9"/>
          <p:cNvSpPr/>
          <p:nvPr/>
        </p:nvSpPr>
        <p:spPr>
          <a:xfrm>
            <a:off x="6428232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0" y="17465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authentication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0" y="21488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Clerk handles logins &amp; sessions; we never store passwords. Google OAuth + invite-only sign-up.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090672"/>
            <a:ext cx="5394960" cy="1325880"/>
          </a:xfrm>
          <a:prstGeom prst="roundRect">
            <a:avLst>
              <a:gd name="adj" fmla="val 758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04672" y="3593592"/>
            <a:ext cx="310896" cy="310896"/>
          </a:xfrm>
          <a:prstGeom prst="ellipse">
            <a:avLst/>
          </a:prstGeom>
          <a:solidFill>
            <a:srgbClr val="1D8F4E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72" y="3593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234440" y="323697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34440" y="363931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create, change and approval is written to an append-only audit log — who, what, when.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72200" y="3090672"/>
            <a:ext cx="5394960" cy="1325880"/>
          </a:xfrm>
          <a:prstGeom prst="roundRect">
            <a:avLst>
              <a:gd name="adj" fmla="val 758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28232" y="3593592"/>
            <a:ext cx="310896" cy="310896"/>
          </a:xfrm>
          <a:prstGeom prst="ellipse">
            <a:avLst/>
          </a:prstGeom>
          <a:solidFill>
            <a:srgbClr val="1D8F4E"/>
          </a:solidFill>
          <a:ln/>
        </p:spPr>
      </p:sp>
      <p:sp>
        <p:nvSpPr>
          <p:cNvPr id="22" name="Text 19"/>
          <p:cNvSpPr/>
          <p:nvPr/>
        </p:nvSpPr>
        <p:spPr>
          <a:xfrm>
            <a:off x="6428232" y="3593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58000" y="323697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stay out of code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858000" y="363931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URLs and API keys live only in the Vercel / Neon / Clerk dashboards, never in the repo.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581144"/>
            <a:ext cx="5394960" cy="1325880"/>
          </a:xfrm>
          <a:prstGeom prst="roundRect">
            <a:avLst>
              <a:gd name="adj" fmla="val 758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04672" y="5084064"/>
            <a:ext cx="310896" cy="310896"/>
          </a:xfrm>
          <a:prstGeom prst="ellipse">
            <a:avLst/>
          </a:prstGeom>
          <a:solidFill>
            <a:srgbClr val="1D8F4E"/>
          </a:solidFill>
          <a:ln/>
        </p:spPr>
      </p:sp>
      <p:sp>
        <p:nvSpPr>
          <p:cNvPr id="27" name="Text 24"/>
          <p:cNvSpPr/>
          <p:nvPr/>
        </p:nvSpPr>
        <p:spPr>
          <a:xfrm>
            <a:off x="804672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234440" y="47274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Least-privilege DB role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234440" y="512978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connects with a role that cannot bypass security — a deliberate hardening step.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172200" y="4581144"/>
            <a:ext cx="5394960" cy="1325880"/>
          </a:xfrm>
          <a:prstGeom prst="roundRect">
            <a:avLst>
              <a:gd name="adj" fmla="val 7586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28232" y="5084064"/>
            <a:ext cx="310896" cy="310896"/>
          </a:xfrm>
          <a:prstGeom prst="ellipse">
            <a:avLst/>
          </a:prstGeom>
          <a:solidFill>
            <a:srgbClr val="1D8F4E"/>
          </a:solidFill>
          <a:ln/>
        </p:spPr>
      </p:sp>
      <p:sp>
        <p:nvSpPr>
          <p:cNvPr id="32" name="Text 29"/>
          <p:cNvSpPr/>
          <p:nvPr/>
        </p:nvSpPr>
        <p:spPr>
          <a:xfrm>
            <a:off x="6428232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858000" y="47274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India (DPDP-aware)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858000" y="512978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supports data-residency and privacy needs of the Indian DPDP Act as we formalize policy.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· Technical Architecture &amp; Data Flow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 OF THE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&amp; cost model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411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and usage-based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near-zero fixed cost, and it scales automatically as companies and employees are added. No servers to run.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3317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291840" y="233172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usage / seat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0" y="233172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hosting &amp; serverless functions — scales on traffic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320040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291840" y="320040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compute + storage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0" y="320040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Database; connection pooling keeps it efficient at scale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06908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40690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Clerk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291840" y="406908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monthly active user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0" y="406908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cost tracks the number of people actually logging in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93776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F5F6FA"/>
          </a:solidFill>
          <a:ln w="12700">
            <a:solidFill>
              <a:srgbClr val="E2E6F0"/>
            </a:solidFill>
            <a:prstDash val="solid"/>
          </a:ln>
          <a:effectLst>
            <a:outerShdw sx="100000" sy="100000" kx="0" ky="0" algn="bl" rotWithShape="0" blurRad="88900" dist="25400" dir="5400000">
              <a:srgbClr val="AAB0C4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2960" y="493776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291840" y="493776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token (AI usage)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400800" y="493776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pay when the AI assistant is actually used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effect: cost rises roughly in step with paying customers — healthy unit economics, and a tiny team can operate the whole platform.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 · Technical Architecture &amp; Data Flow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455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9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5920" y="777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77240" y="1828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architecture wins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777240" y="2926080"/>
            <a:ext cx="320040" cy="32004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6" name="Text 3"/>
          <p:cNvSpPr/>
          <p:nvPr/>
        </p:nvSpPr>
        <p:spPr>
          <a:xfrm>
            <a:off x="128016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by design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80160" y="322783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isolation enforced in the database — trust you can defend to any buyer.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55080" y="2926080"/>
            <a:ext cx="320040" cy="32004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0" y="322783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assistant that performs real work, safely, within each user's permissions.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" y="4297680"/>
            <a:ext cx="320040" cy="32004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12" name="Text 9"/>
          <p:cNvSpPr/>
          <p:nvPr/>
        </p:nvSpPr>
        <p:spPr>
          <a:xfrm>
            <a:off x="128016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&amp; lean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80160" y="459943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Best-in-class managed vendors; a small team ships fast with near-zero ops.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55080" y="4297680"/>
            <a:ext cx="320040" cy="320040"/>
          </a:xfrm>
          <a:prstGeom prst="ellipse">
            <a:avLst/>
          </a:prstGeom>
          <a:solidFill>
            <a:srgbClr val="EC6A49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India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0" y="459943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payroll, Indian leave, and DPDP-aware from the ground up.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" y="5852160"/>
            <a:ext cx="2743200" cy="0"/>
          </a:xfrm>
          <a:prstGeom prst="line">
            <a:avLst/>
          </a:prstGeom>
          <a:noFill/>
          <a:ln w="31750">
            <a:solidFill>
              <a:srgbClr val="EC6A4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6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nayahr.in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2026-07-27T14:19:32Z</dcterms:created>
  <dcterms:modified xsi:type="dcterms:W3CDTF">2026-07-27T14:19:32Z</dcterms:modified>
</cp:coreProperties>
</file>