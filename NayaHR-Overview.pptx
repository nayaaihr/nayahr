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for a customer conversation. Frame the pain first: an SMB shouldn't need five tools and a stack of spreadsheets to run HR. NayaHR is one platform that does it all — and it's built for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sales contrast. Left = the messy status quo (they'll recognize their own life). Right = one calm platform. Don't read every line — pick the two pains that matter most to this specific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is the pitch: one subscription covers what would otherwise be four or five tools. And because it's one platform, the modules talk to each other — a new hire flows from Recruitment into Core HR and Payroll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often the deal-maker for Indian SMBs — payroll compliance is painful and risky. Lead with 'minutes, not days' and 'the statutory calculations are built in.' If they run payroll on spreadsheets today, this slide sells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 vs. legacy HR software. The two points that land: (1) it saves real time on repetitive tasks, (2) it's safe — it respects each user's permissions, so an employee can't use it to see or do manager/HR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of HR/payroll software care most about trust. Lead with 'your data is walled off from every other company at the database level' and 'we never store passwords.' Keep it plain — no jargon.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Localization is a real moat vs. global tools that bolt India on later. Emphasize statutory payroll + Indian leave + fast setup. 'You can be live this week' is a strong closer into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CTA. Recap the four benefits, then make the ask concrete: a live demo or a pilot. 'Live in days, not months' lowers the perceived switching cost — a common objection for SMBs.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3080" y="868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80136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HRIS · built for Indian businesses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7724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for your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people operation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Hiring, performance, pay, and time off — in one place, with an AI assistant that actually gets work done.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5120640"/>
            <a:ext cx="274320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nayahr.in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NAYAHR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HR shouldn't mean juggling ten tools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444"/>
            </a:avLst>
          </a:prstGeom>
          <a:solidFill>
            <a:srgbClr val="FBEAE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for most SMBs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in fragile spreadsheets — and statutory maths done by hand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08152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tool for hiring, another for reviews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73989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tracked over WhatsApp and email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39826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truth for employee data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0566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risk every month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97880" y="3749040"/>
            <a:ext cx="502920" cy="0"/>
          </a:xfrm>
          <a:prstGeom prst="line">
            <a:avLst/>
          </a:prstGeom>
          <a:noFill/>
          <a:ln w="381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492240" y="1691640"/>
            <a:ext cx="5166360" cy="4114800"/>
          </a:xfrm>
          <a:prstGeom prst="roundRect">
            <a:avLst>
              <a:gd name="adj" fmla="val 2444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122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NayaHR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58000" y="2551176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69480" y="2423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one login for the whole team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858000" y="3209544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30815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with PF, ESI, PT &amp; TDS built in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58000" y="3867912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69480" y="37398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→ performance → pay, all connected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858000" y="4526280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269480" y="439826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self-serve payslips, leave &amp; goals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858000" y="5184648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269480" y="5056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that does the busywork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 ·  nayahr.in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your people operation needs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90195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8163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always-current record for every employee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190195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66160" y="28163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roles, track candidates, hire straight into Core HR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6459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82512" y="190195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55080" y="28163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and reviews: employee → manager → HR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15400" y="164592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71432" y="190195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0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0" y="28163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structures with full, dated change history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409651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645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" y="501091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statutory payroll → payslips, done in minutes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37560" y="384048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593592" y="409651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27" name="Text 24"/>
          <p:cNvSpPr/>
          <p:nvPr/>
        </p:nvSpPr>
        <p:spPr>
          <a:xfrm>
            <a:off x="3566160" y="4645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off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66160" y="501091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leave types, balances and approvals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26480" y="384048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82512" y="409651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31" name="Text 28"/>
          <p:cNvSpPr/>
          <p:nvPr/>
        </p:nvSpPr>
        <p:spPr>
          <a:xfrm>
            <a:off x="6355080" y="4645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355080" y="501091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Headcount, cost and people insights at a glance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915400" y="384048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171432" y="40965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35" name="Text 32"/>
          <p:cNvSpPr/>
          <p:nvPr/>
        </p:nvSpPr>
        <p:spPr>
          <a:xfrm>
            <a:off x="9144000" y="4645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144000" y="501091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 plain English — it does the work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 ·  nayahr.in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PART, HANDLED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India-ready payroll, built in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payroll for the whole company in minutes — the statutory maths is done for you, and every payslip is saved for your team.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057400" cy="822960"/>
          </a:xfrm>
          <a:prstGeom prst="roundRect">
            <a:avLst>
              <a:gd name="adj" fmla="val 12222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month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633472" y="2697480"/>
            <a:ext cx="18288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34640" y="2286000"/>
            <a:ext cx="2057400" cy="822960"/>
          </a:xfrm>
          <a:prstGeom prst="roundRect">
            <a:avLst>
              <a:gd name="adj" fmla="val 12222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computes every payslip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19472" y="2697480"/>
            <a:ext cx="18288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120640" y="2286000"/>
            <a:ext cx="2057400" cy="822960"/>
          </a:xfrm>
          <a:prstGeom prst="roundRect">
            <a:avLst>
              <a:gd name="adj" fmla="val 12222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1208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05472" y="2697480"/>
            <a:ext cx="18288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06640" y="2286000"/>
            <a:ext cx="2057400" cy="822960"/>
          </a:xfrm>
          <a:prstGeom prst="roundRect">
            <a:avLst>
              <a:gd name="adj" fmla="val 12222"/>
            </a:avLst>
          </a:prstGeom>
          <a:solidFill>
            <a:srgbClr val="EC6A49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9808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491472" y="2697480"/>
            <a:ext cx="18288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692640" y="2286000"/>
            <a:ext cx="2057400" cy="822960"/>
          </a:xfrm>
          <a:prstGeom prst="roundRect">
            <a:avLst>
              <a:gd name="adj" fmla="val 12222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78408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get payslips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520440"/>
            <a:ext cx="3520440" cy="777240"/>
          </a:xfrm>
          <a:prstGeom prst="roundRect">
            <a:avLst>
              <a:gd name="adj" fmla="val 12941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3767328"/>
            <a:ext cx="274320" cy="274320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8872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Provident Fund (PF)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251960" y="3520440"/>
            <a:ext cx="3520440" cy="777240"/>
          </a:xfrm>
          <a:prstGeom prst="roundRect">
            <a:avLst>
              <a:gd name="adj" fmla="val 12941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480560" y="3767328"/>
            <a:ext cx="274320" cy="274320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26" name="Text 23"/>
          <p:cNvSpPr/>
          <p:nvPr/>
        </p:nvSpPr>
        <p:spPr>
          <a:xfrm>
            <a:off x="448056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9204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955280" y="3520440"/>
            <a:ext cx="3520440" cy="777240"/>
          </a:xfrm>
          <a:prstGeom prst="roundRect">
            <a:avLst>
              <a:gd name="adj" fmla="val 12941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183880" y="3767328"/>
            <a:ext cx="274320" cy="274320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30" name="Text 27"/>
          <p:cNvSpPr/>
          <p:nvPr/>
        </p:nvSpPr>
        <p:spPr>
          <a:xfrm>
            <a:off x="818388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59536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Tax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4434840"/>
            <a:ext cx="3520440" cy="777240"/>
          </a:xfrm>
          <a:prstGeom prst="roundRect">
            <a:avLst>
              <a:gd name="adj" fmla="val 12941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77240" y="4681728"/>
            <a:ext cx="274320" cy="274320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88720" y="4434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TDS (income tax)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251960" y="4434840"/>
            <a:ext cx="3520440" cy="777240"/>
          </a:xfrm>
          <a:prstGeom prst="roundRect">
            <a:avLst>
              <a:gd name="adj" fmla="val 12941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480560" y="4681728"/>
            <a:ext cx="274320" cy="274320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38" name="Text 35"/>
          <p:cNvSpPr/>
          <p:nvPr/>
        </p:nvSpPr>
        <p:spPr>
          <a:xfrm>
            <a:off x="448056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892040" y="4434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Pay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955280" y="4434840"/>
            <a:ext cx="3520440" cy="777240"/>
          </a:xfrm>
          <a:prstGeom prst="roundRect">
            <a:avLst>
              <a:gd name="adj" fmla="val 12941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183880" y="4681728"/>
            <a:ext cx="274320" cy="274320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42" name="Text 39"/>
          <p:cNvSpPr/>
          <p:nvPr/>
        </p:nvSpPr>
        <p:spPr>
          <a:xfrm>
            <a:off x="818388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595360" y="4434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cost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Finalized payslips are locked and saved — a clean record every month, no spreadsheets, no missed filings.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 ·  nayahr.in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TEAM'S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that gets work done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 — it performs real actions across the platform, for whoever's asking, within what their role allows.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6766560" cy="548640"/>
          </a:xfrm>
          <a:prstGeom prst="roundRect">
            <a:avLst>
              <a:gd name="adj" fmla="val 18333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468880"/>
            <a:ext cx="274320" cy="2743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2331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“Run July payroll.”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90088"/>
            <a:ext cx="6766560" cy="548640"/>
          </a:xfrm>
          <a:prstGeom prst="roundRect">
            <a:avLst>
              <a:gd name="adj" fmla="val 18333"/>
            </a:avLst>
          </a:prstGeom>
          <a:solidFill>
            <a:srgbClr val="EEF1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127248"/>
            <a:ext cx="274320" cy="2743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29900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“Create a requisition for a Senior Engineer in Bengaluru.”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48456"/>
            <a:ext cx="6766560" cy="548640"/>
          </a:xfrm>
          <a:prstGeom prst="roundRect">
            <a:avLst>
              <a:gd name="adj" fmla="val 18333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785616"/>
            <a:ext cx="274320" cy="2743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364845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“Raise a salary change for Priya, effective next month.”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306824"/>
            <a:ext cx="6766560" cy="548640"/>
          </a:xfrm>
          <a:prstGeom prst="roundRect">
            <a:avLst>
              <a:gd name="adj" fmla="val 18333"/>
            </a:avLst>
          </a:prstGeom>
          <a:solidFill>
            <a:srgbClr val="EEF1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4443984"/>
            <a:ext cx="274320" cy="2743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430682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“Who's on leave this week?”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965192"/>
            <a:ext cx="6766560" cy="548640"/>
          </a:xfrm>
          <a:prstGeom prst="roundRect">
            <a:avLst>
              <a:gd name="adj" fmla="val 18333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5102352"/>
            <a:ext cx="274320" cy="2743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0" name="Text 17"/>
          <p:cNvSpPr/>
          <p:nvPr/>
        </p:nvSpPr>
        <p:spPr>
          <a:xfrm>
            <a:off x="1234440" y="49651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headcount by department.”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35240" y="2331720"/>
            <a:ext cx="4023360" cy="3246120"/>
          </a:xfrm>
          <a:prstGeom prst="roundRect">
            <a:avLst>
              <a:gd name="adj" fmla="val 3099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0956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09560" y="306324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busywork.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HR tasks happen in one sentence instead of ten clicks.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design.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can only do what the person asking is already allowed to do.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 ·  nayahr.in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TRUSTED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is safe with NayaHR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2103120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746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company fully isolated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148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is walled off at the database level — no other company can ever see 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103120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1746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sign-in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2148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 are handled by a specialist provider; we never store passwords. Google sign-in supported.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81528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" y="3584448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34440" y="32278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by default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34440" y="363016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can access your workspace unless you invite them.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3081528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28232" y="3584448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22" name="Text 19"/>
          <p:cNvSpPr/>
          <p:nvPr/>
        </p:nvSpPr>
        <p:spPr>
          <a:xfrm>
            <a:off x="6428232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0" y="32278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is logged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0" y="363016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audit trail of who changed what, and when.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562856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04672" y="5065776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3444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34440" y="511149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Owners, HR, managers and employees each see exactly what they should — nothing more.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4562856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28232" y="5065776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32" name="Text 29"/>
          <p:cNvSpPr/>
          <p:nvPr/>
        </p:nvSpPr>
        <p:spPr>
          <a:xfrm>
            <a:off x="6428232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India's DPDP in mind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58000" y="511149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India's data-protection expectations from the ground up.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 ·  nayahr.in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FOR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Indian businesses work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5789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6A49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496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payroll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862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PF, ESI, PT and TDS calculated for you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520440" cy="1737360"/>
          </a:xfrm>
          <a:prstGeom prst="roundRect">
            <a:avLst>
              <a:gd name="adj" fmla="val 5789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6A49"/>
          </a:solidFill>
          <a:ln/>
        </p:spPr>
      </p:sp>
      <p:sp>
        <p:nvSpPr>
          <p:cNvPr id="11" name="Text 8"/>
          <p:cNvSpPr/>
          <p:nvPr/>
        </p:nvSpPr>
        <p:spPr>
          <a:xfrm>
            <a:off x="4507992" y="2496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leave types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07992" y="2862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Earned, Casual, Sick, Maternity, LOP and more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55280" y="1691640"/>
            <a:ext cx="3520440" cy="1737360"/>
          </a:xfrm>
          <a:prstGeom prst="roundRect">
            <a:avLst>
              <a:gd name="adj" fmla="val 5789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11312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6A49"/>
          </a:solidFill>
          <a:ln/>
        </p:spPr>
      </p:sp>
      <p:sp>
        <p:nvSpPr>
          <p:cNvPr id="15" name="Text 12"/>
          <p:cNvSpPr/>
          <p:nvPr/>
        </p:nvSpPr>
        <p:spPr>
          <a:xfrm>
            <a:off x="8211312" y="2496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Rupee-first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11312" y="2862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₹, salary structures the Indian way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3520440" cy="1737360"/>
          </a:xfrm>
          <a:prstGeom prst="roundRect">
            <a:avLst>
              <a:gd name="adj" fmla="val 5789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4672" y="3913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6A49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baked in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04672" y="48280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and HR sign-offs where they belong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3657600"/>
            <a:ext cx="3520440" cy="1737360"/>
          </a:xfrm>
          <a:prstGeom prst="roundRect">
            <a:avLst>
              <a:gd name="adj" fmla="val 5789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07992" y="3913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6A49"/>
          </a:solidFill>
          <a:ln/>
        </p:spPr>
      </p:sp>
      <p:sp>
        <p:nvSpPr>
          <p:cNvPr id="23" name="Text 20"/>
          <p:cNvSpPr/>
          <p:nvPr/>
        </p:nvSpPr>
        <p:spPr>
          <a:xfrm>
            <a:off x="4507992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Effective-dated records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07992" y="48280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history — see the org as of any date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955280" y="3657600"/>
            <a:ext cx="3520440" cy="1737360"/>
          </a:xfrm>
          <a:prstGeom prst="roundRect">
            <a:avLst>
              <a:gd name="adj" fmla="val 5789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11312" y="3913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6A49"/>
          </a:solidFill>
          <a:ln/>
        </p:spPr>
      </p:sp>
      <p:sp>
        <p:nvSpPr>
          <p:cNvPr id="27" name="Text 24"/>
          <p:cNvSpPr/>
          <p:nvPr/>
        </p:nvSpPr>
        <p:spPr>
          <a:xfrm>
            <a:off x="8211312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and running fast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211312" y="48280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your roster, invite your team — that's it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 ·  nayahr.in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7724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whole people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into one place.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22960" y="3776472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34440" y="3749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Hiring, performance, pay &amp; time off — one platform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4279392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3444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India-ready payroll, built in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4782312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782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34440" y="4754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that does the busywork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22960" y="5285232"/>
            <a:ext cx="256032" cy="256032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285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3444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and live in days — not months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" y="5943600"/>
            <a:ext cx="274320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live: </a:t>
            </a:r>
            <a:pPr indent="0" marL="0">
              <a:buNone/>
            </a:pPr>
            <a:r>
              <a:rPr lang="en-US" sz="15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nayahr.in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Talk to us: </a:t>
            </a:r>
            <a:pPr indent="0" marL="0">
              <a:buNone/>
            </a:pPr>
            <a:r>
              <a:rPr lang="en-US" sz="15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hello@nayahr.in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2026-07-27T14:31:21Z</dcterms:created>
  <dcterms:modified xsi:type="dcterms:W3CDTF">2026-07-27T14:31:21Z</dcterms:modified>
</cp:coreProperties>
</file>